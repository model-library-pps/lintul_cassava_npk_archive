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58" r:id="rId5"/>
    <p:sldId id="257" r:id="rId6"/>
    <p:sldId id="264" r:id="rId7"/>
    <p:sldId id="260" r:id="rId8"/>
    <p:sldId id="261" r:id="rId9"/>
    <p:sldId id="262" r:id="rId10"/>
    <p:sldId id="266" r:id="rId11"/>
    <p:sldId id="263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1AFA-41A1-4C38-A01B-421C595F6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191DA-E945-4163-BF64-7ABFAA796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6EC6D-0E36-487A-B9F4-C435EB1F2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49548-BCFE-498F-B54D-DD38B20BFF24}" type="datetimeFigureOut">
              <a:rPr lang="en-GB" smtClean="0"/>
              <a:t>18/12/2020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C20F1-BD1A-4534-AD02-40115C890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BBDBC-7495-4E95-807A-5DE0FA9C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A50F-BBBE-4DC4-9AC1-F0B02D4311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922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C17DE-1CAD-4572-BF4A-AB9454345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54B6E-FD58-419A-9F33-889C1A577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648CB-21C2-437F-8A53-CF6938F87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49548-BCFE-498F-B54D-DD38B20BFF24}" type="datetimeFigureOut">
              <a:rPr lang="en-GB" smtClean="0"/>
              <a:t>18/12/2020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9BE59-4269-492E-9B78-834C7DDBA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6BA9C-BDF4-4DD5-A6DD-A9A53969C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A50F-BBBE-4DC4-9AC1-F0B02D4311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6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9AEB2-73A7-44CE-8BE1-ACB6CD624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2AACE-3174-400E-B87C-1B6FA6282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19167-169A-4D75-945D-FA0E48181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49548-BCFE-498F-B54D-DD38B20BFF24}" type="datetimeFigureOut">
              <a:rPr lang="en-GB" smtClean="0"/>
              <a:t>18/12/2020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DBD3A-9F8A-4AA2-855C-70FDD6A73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73C28-24B0-442D-8E7B-7FEEA84F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A50F-BBBE-4DC4-9AC1-F0B02D4311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219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34BA-79B7-415F-8484-0BEC3F1DE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F2841-5B3E-4A71-ADFB-7FF1F571F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B4502-EA16-4BF1-9318-0A701195C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DB5CE-8CFE-4D78-ABBC-61913135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49548-BCFE-498F-B54D-DD38B20BFF24}" type="datetimeFigureOut">
              <a:rPr lang="en-GB" smtClean="0"/>
              <a:t>18/12/2020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2203B-74D7-422C-8AC1-555C3446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70807-5116-4DCA-872E-B91A469B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A50F-BBBE-4DC4-9AC1-F0B02D4311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112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C3587-C2AA-433C-809D-1CF3783F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AAA09-C2DA-4082-8A33-5C7A75B65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94D7D-150E-4798-B5F8-BF071A9BA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DF2884-14F0-4B91-98F4-5A9C5A68D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44E5BF-6021-485C-8DD5-88A8D804AC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3B28E3-7D2B-4A79-AE3F-81F6F6FE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49548-BCFE-498F-B54D-DD38B20BFF24}" type="datetimeFigureOut">
              <a:rPr lang="en-GB" smtClean="0"/>
              <a:t>18/12/2020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03FAD2-0C4A-45F5-8DAB-0B5C29045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179781-2605-4E67-8A91-5763156E6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A50F-BBBE-4DC4-9AC1-F0B02D4311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9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39CD8-0072-4BC1-BAC6-2FFA4CA88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BEB46E-84C9-4BD5-BCAC-9BD712541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49548-BCFE-498F-B54D-DD38B20BFF24}" type="datetimeFigureOut">
              <a:rPr lang="en-GB" smtClean="0"/>
              <a:t>18/12/2020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161CD-D65B-42D5-870A-4E907CBCA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813914-31B9-4A37-9ED3-B5388099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A50F-BBBE-4DC4-9AC1-F0B02D4311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223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8F55A9-B1A8-495C-884C-A5847B9AB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49548-BCFE-498F-B54D-DD38B20BFF24}" type="datetimeFigureOut">
              <a:rPr lang="en-GB" smtClean="0"/>
              <a:t>18/12/2020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A1EDA1-5C8D-49D5-BB7F-0D9A7DDD7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88351-5241-4D70-98DB-CB4346566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A50F-BBBE-4DC4-9AC1-F0B02D4311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833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B74A4-CB6C-4086-A91D-042ECFCE1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2986A-4C85-41CF-920A-16F7ED410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133EEA-6A89-4B5B-B5B4-4272BCEA7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1DC74-6627-4F7C-8C8E-7CD33ED6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49548-BCFE-498F-B54D-DD38B20BFF24}" type="datetimeFigureOut">
              <a:rPr lang="en-GB" smtClean="0"/>
              <a:t>18/12/2020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7EFCC-9357-49A1-9DE3-A866FB3A5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6C92C-8187-4E52-93D3-1EE5B37C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A50F-BBBE-4DC4-9AC1-F0B02D4311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047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8D87-BE7C-4A95-BE84-1517DAEFB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6617D9-9C03-463C-8E47-032A4219B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06FA0A-674C-47CB-B0A1-AAF512DF7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6436D-D170-40DC-9956-864CC85B4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49548-BCFE-498F-B54D-DD38B20BFF24}" type="datetimeFigureOut">
              <a:rPr lang="en-GB" smtClean="0"/>
              <a:t>18/12/2020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C6786-A748-4690-8AF2-4AF4D28E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31A66-BEA8-462E-A111-1B726398F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A50F-BBBE-4DC4-9AC1-F0B02D4311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6805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4F82-463B-4EB0-8186-8E2FB0AA6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E34E7-C4A8-405A-8906-8D984D13A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82006-6078-4429-A60D-09ACAC525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49548-BCFE-498F-B54D-DD38B20BFF24}" type="datetimeFigureOut">
              <a:rPr lang="en-GB" smtClean="0"/>
              <a:t>18/12/2020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21794-3773-4DFB-8FA8-41DDD6E08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103DA-CD3C-42ED-AC43-8F4CABFB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A50F-BBBE-4DC4-9AC1-F0B02D4311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361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DD9AEC-D141-4299-989D-92187B370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B43A8-D3CC-4427-8FC4-E5F073FE4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2D674-953A-4D2D-8B8A-131CEB693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49548-BCFE-498F-B54D-DD38B20BFF24}" type="datetimeFigureOut">
              <a:rPr lang="en-GB" smtClean="0"/>
              <a:t>18/12/2020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6FC38-1360-4669-ABB2-9F6C1804B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5E9AB-830C-4CB5-9FD2-D8242097F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A50F-BBBE-4DC4-9AC1-F0B02D4311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8626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08952B-78CE-4CCE-AB94-9936FB4A0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2FC19-7545-439F-8637-A02B25D9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DF572-DFC6-46D8-910B-B0934EFFD6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49548-BCFE-498F-B54D-DD38B20BFF24}" type="datetimeFigureOut">
              <a:rPr lang="en-GB" smtClean="0"/>
              <a:t>18/12/2020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996D3-357D-4C55-8017-4981ABDDF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6EAE9-E31A-49E9-959A-C6D235C671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CA50F-BBBE-4DC4-9AC1-F0B02D4311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7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6416E-5DFE-4E05-A2EE-6463689520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LINTUL-</a:t>
            </a:r>
            <a:r>
              <a:rPr lang="en-GB" dirty="0" err="1"/>
              <a:t>CassavaNPK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278D8-9DA8-40B0-95AA-A87E401EBD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Modelling NPK limitations</a:t>
            </a:r>
          </a:p>
        </p:txBody>
      </p:sp>
    </p:spTree>
    <p:extLst>
      <p:ext uri="{BB962C8B-B14F-4D97-AF65-F5344CB8AC3E}">
        <p14:creationId xmlns:p14="http://schemas.microsoft.com/office/powerpoint/2010/main" val="72453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CCBC9-C953-437A-9557-CEF70181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LINTUL-Cassava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537A2-165E-47D0-95A1-69E4D500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RUE based</a:t>
            </a:r>
          </a:p>
          <a:p>
            <a:endParaRPr lang="en-GB" dirty="0"/>
          </a:p>
          <a:p>
            <a:r>
              <a:rPr lang="en-GB" dirty="0"/>
              <a:t>Tabulated partitioning</a:t>
            </a:r>
          </a:p>
          <a:p>
            <a:endParaRPr lang="en-GB" dirty="0"/>
          </a:p>
          <a:p>
            <a:r>
              <a:rPr lang="en-GB" dirty="0"/>
              <a:t>PENMAN-based evapotranspiration</a:t>
            </a:r>
          </a:p>
        </p:txBody>
      </p:sp>
    </p:spTree>
    <p:extLst>
      <p:ext uri="{BB962C8B-B14F-4D97-AF65-F5344CB8AC3E}">
        <p14:creationId xmlns:p14="http://schemas.microsoft.com/office/powerpoint/2010/main" val="1780416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EFE31-F702-4508-9D8F-E38CED2B4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Tabulated assimilate partitioning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23FC01-ACC8-409C-8D64-BD8FD81C2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608"/>
          <a:stretch/>
        </p:blipFill>
        <p:spPr>
          <a:xfrm>
            <a:off x="3228392" y="1195974"/>
            <a:ext cx="6116944" cy="563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798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3AC9A-3BFE-4A1B-84CF-05A913CD4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Nutrient concentrations in Cassava organs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2564B8-0BB4-41CD-A643-B283FC85A0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14511"/>
            <a:ext cx="5083392" cy="4028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054193-8A6A-4DCE-A81E-81965A0F1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009" y="2247730"/>
            <a:ext cx="7122991" cy="284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46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07A67-D997-45CC-B348-F2934BC9E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Nutrition indices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A93D43-8790-4563-B617-0A1D7A74DE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698" y="1825625"/>
                <a:ext cx="4824369" cy="4351338"/>
              </a:xfrm>
            </p:spPr>
            <p:txBody>
              <a:bodyPr/>
              <a:lstStyle/>
              <a:p>
                <a:r>
                  <a:rPr lang="en-GB" dirty="0"/>
                  <a:t>Nopt, </a:t>
                </a:r>
                <a:r>
                  <a:rPr lang="en-GB" dirty="0" err="1"/>
                  <a:t>Popt</a:t>
                </a:r>
                <a:r>
                  <a:rPr lang="en-GB" dirty="0"/>
                  <a:t>, </a:t>
                </a:r>
                <a:r>
                  <a:rPr lang="en-GB" dirty="0" err="1"/>
                  <a:t>Kopt</a:t>
                </a:r>
                <a:r>
                  <a:rPr lang="en-GB" dirty="0"/>
                  <a:t>: </a:t>
                </a:r>
              </a:p>
              <a:p>
                <a:pPr lvl="1"/>
                <a:r>
                  <a:rPr lang="en-GB" dirty="0"/>
                  <a:t>0.8 * max. concentration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NNI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𝑎𝑐𝑡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den>
                    </m:f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NI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𝑎𝑐𝑡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den>
                    </m:f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mtClean="0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NI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𝑎𝑐𝑡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den>
                    </m:f>
                  </m:oMath>
                </a14:m>
                <a:endParaRPr lang="en-GB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𝑁𝑃𝐾𝐼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𝑁𝑁𝐼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𝑃𝑁𝐼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𝐾𝑁𝐼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A93D43-8790-4563-B617-0A1D7A74DE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698" y="1825625"/>
                <a:ext cx="4824369" cy="4351338"/>
              </a:xfrm>
              <a:blipFill>
                <a:blip r:embed="rId2"/>
                <a:stretch>
                  <a:fillRect l="-2273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C99E517-D852-4981-9E7D-F323F225D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196" y="2090155"/>
            <a:ext cx="5935014" cy="408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53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FE5EF-BE81-4EF5-8155-DA9F12795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021" y="365125"/>
            <a:ext cx="8915176" cy="1325563"/>
          </a:xfrm>
        </p:spPr>
        <p:txBody>
          <a:bodyPr/>
          <a:lstStyle/>
          <a:p>
            <a:r>
              <a:rPr lang="en-GB" dirty="0"/>
              <a:t>Nutrition indices explain growth rate reduction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EA92AC-CBBD-45BD-A3CB-7668952B5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324" y="1593411"/>
            <a:ext cx="5090803" cy="51673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422DEF-9B14-43D5-932B-D0D6F769D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735601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002830-7909-44A1-872E-E286517CB2F1}"/>
              </a:ext>
            </a:extLst>
          </p:cNvPr>
          <p:cNvSpPr txBox="1"/>
          <p:nvPr/>
        </p:nvSpPr>
        <p:spPr>
          <a:xfrm>
            <a:off x="8179850" y="1787965"/>
            <a:ext cx="35563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Adiele et al. 2021. Dynamics of N-P-K demand and uptake in cassava.</a:t>
            </a:r>
          </a:p>
          <a:p>
            <a:r>
              <a:rPr lang="en-GB" dirty="0"/>
              <a:t>Agr. </a:t>
            </a:r>
            <a:r>
              <a:rPr lang="en-GB" dirty="0" err="1"/>
              <a:t>Sust.Dev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7617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EF4B0-3720-46BB-AFBB-EED6D7DE4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92" y="365125"/>
            <a:ext cx="11836788" cy="1325563"/>
          </a:xfrm>
        </p:spPr>
        <p:txBody>
          <a:bodyPr/>
          <a:lstStyle/>
          <a:p>
            <a:r>
              <a:rPr lang="en-GB" dirty="0"/>
              <a:t>Growth rate reduction due to N, P and K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1B099-3A6D-484B-8F02-B88F83619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88516" cy="4351338"/>
          </a:xfrm>
        </p:spPr>
        <p:txBody>
          <a:bodyPr>
            <a:normAutofit/>
          </a:bodyPr>
          <a:lstStyle/>
          <a:p>
            <a:r>
              <a:rPr lang="en-GB" dirty="0"/>
              <a:t>“Mirrored Monod”</a:t>
            </a:r>
          </a:p>
          <a:p>
            <a:r>
              <a:rPr lang="en-GB" dirty="0"/>
              <a:t>Calibrated K value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0B6AFA-A48A-4B68-9F04-DDDFD7765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049" y="1399592"/>
            <a:ext cx="7667631" cy="54584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00967A-9D32-4BC4-8D6A-1ED28B628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18" y="4001294"/>
            <a:ext cx="322897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362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AD01-3307-4BB8-9424-CB667288E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Nutrient equivalents: demand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87332C4-E87B-44CB-9DF7-9030F1E943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1421" y="1834014"/>
                <a:ext cx="8230299" cy="4351338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Janssen: under optimum supply, the N:P:K ratios are constant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𝑁𝐸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𝑝𝑙𝑎𝑛𝑡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𝑝𝑙𝑎𝑛𝑡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𝑝𝑙𝑎𝑛𝑡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den>
                    </m:f>
                  </m:oMath>
                </a14:m>
                <a:endParaRPr lang="en-GB" dirty="0"/>
              </a:p>
              <a:p>
                <a:r>
                  <a:rPr lang="en-GB" dirty="0"/>
                  <a:t>Demand = Optimum – Actual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𝑁𝐸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𝑑𝑒𝑚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𝑑𝑒𝑚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𝑑𝑒𝑚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den>
                    </m:f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87332C4-E87B-44CB-9DF7-9030F1E943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1421" y="1834014"/>
                <a:ext cx="8230299" cy="4351338"/>
              </a:xfrm>
              <a:blipFill>
                <a:blip r:embed="rId2"/>
                <a:stretch>
                  <a:fillRect l="-133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9768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AD01-3307-4BB8-9424-CB667288E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Nutrient equivalents: supply and uptake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87332C4-E87B-44CB-9DF7-9030F1E943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1421" y="1834014"/>
                <a:ext cx="8230299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Supply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𝑁𝐸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𝑠𝑜𝑖𝑙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𝑠𝑜𝑖𝑙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𝑠𝑜𝑖𝑙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den>
                    </m:f>
                  </m:oMath>
                </a14:m>
                <a:endParaRPr lang="en-GB" dirty="0"/>
              </a:p>
              <a:p>
                <a:r>
                  <a:rPr lang="en-GB" dirty="0"/>
                  <a:t>Uptake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mur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𝑚𝑖𝑛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𝑁𝐸𝐷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𝐷𝐸𝐿𝑇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⁡_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𝑢𝑝𝑡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𝑟𝑎𝑡𝑒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𝑁𝐸𝑆</m:t>
                        </m:r>
                      </m:e>
                    </m:d>
                  </m:oMath>
                </a14:m>
                <a:endParaRPr lang="en-GB" b="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dirty="0" smtClean="0"/>
                      <m:t>N</m:t>
                    </m:r>
                    <m:r>
                      <m:rPr>
                        <m:nor/>
                      </m:rPr>
                      <a:rPr lang="en-GB" b="0" i="0" dirty="0" smtClean="0"/>
                      <m:t>_</m:t>
                    </m:r>
                    <m:r>
                      <m:rPr>
                        <m:nor/>
                      </m:rPr>
                      <a:rPr lang="en-GB" dirty="0" smtClean="0"/>
                      <m:t>uptake</m:t>
                    </m:r>
                    <m:r>
                      <m:rPr>
                        <m:nor/>
                      </m:rPr>
                      <a:rPr lang="en-GB" b="0" i="0" dirty="0" smtClean="0"/>
                      <m:t>_</m:t>
                    </m:r>
                    <m:r>
                      <m:rPr>
                        <m:nor/>
                      </m:rPr>
                      <a:rPr lang="en-GB" b="0" i="0" dirty="0" smtClean="0"/>
                      <m:t>rate</m:t>
                    </m:r>
                    <m:r>
                      <m:rPr>
                        <m:nor/>
                      </m:rPr>
                      <a:rPr lang="en-GB" dirty="0" smtClean="0"/>
                      <m:t> 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𝑚𝑖𝑛</m:t>
                    </m:r>
                    <m:d>
                      <m:d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𝑚𝑢𝑟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𝑠𝑜𝑖𝑙</m:t>
                                </m:r>
                              </m:sub>
                            </m:sSub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𝑁𝐸𝑆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𝑠𝑜𝑖𝑙</m:t>
                                </m:r>
                              </m:sub>
                            </m:sSub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𝐷𝐸𝐿𝑇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𝑁𝑑𝑒𝑚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𝐷𝐸𝐿𝑇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Parameters in the mode</a:t>
                </a:r>
              </a:p>
              <a:p>
                <a:pPr lvl="1"/>
                <a:r>
                  <a:rPr lang="en-GB" dirty="0"/>
                  <a:t>SLOPE_NEQ_SOILSUPPLY_NEQ_PLANTUPTAKE </a:t>
                </a:r>
              </a:p>
              <a:p>
                <a:pPr lvl="1"/>
                <a:r>
                  <a:rPr lang="en-GB" dirty="0"/>
                  <a:t>0.012 nutrient equivalents d</a:t>
                </a:r>
                <a:r>
                  <a:rPr lang="en-GB" baseline="30000" dirty="0"/>
                  <a:t>-1</a:t>
                </a:r>
                <a:r>
                  <a:rPr lang="en-GB" dirty="0"/>
                  <a:t> </a:t>
                </a:r>
              </a:p>
              <a:p>
                <a:pPr lvl="1"/>
                <a:r>
                  <a:rPr lang="en-GB" dirty="0"/>
                  <a:t>Value was derived from experimental data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87332C4-E87B-44CB-9DF7-9030F1E943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1421" y="1834014"/>
                <a:ext cx="8230299" cy="4351338"/>
              </a:xfrm>
              <a:blipFill>
                <a:blip r:embed="rId2"/>
                <a:stretch>
                  <a:fillRect l="-1185" t="-2801" b="-4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49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E3838-0882-4678-B930-A1EEE4DFB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of nutrient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13360-D0E0-470D-85DB-53A3A5385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903290" cy="4351338"/>
          </a:xfrm>
        </p:spPr>
        <p:txBody>
          <a:bodyPr/>
          <a:lstStyle/>
          <a:p>
            <a:r>
              <a:rPr lang="en-GB" dirty="0"/>
              <a:t>Full NPK supply:</a:t>
            </a:r>
          </a:p>
          <a:p>
            <a:r>
              <a:rPr lang="en-GB" dirty="0"/>
              <a:t>Cross river</a:t>
            </a:r>
          </a:p>
          <a:p>
            <a:pPr lvl="1"/>
            <a:r>
              <a:rPr lang="en-GB" dirty="0"/>
              <a:t>N limited</a:t>
            </a:r>
          </a:p>
          <a:p>
            <a:r>
              <a:rPr lang="en-GB" dirty="0"/>
              <a:t>Edo:</a:t>
            </a:r>
          </a:p>
          <a:p>
            <a:pPr lvl="1"/>
            <a:r>
              <a:rPr lang="en-GB" dirty="0"/>
              <a:t>K limited</a:t>
            </a:r>
          </a:p>
          <a:p>
            <a:r>
              <a:rPr lang="en-GB" dirty="0"/>
              <a:t>Benue</a:t>
            </a:r>
          </a:p>
          <a:p>
            <a:pPr lvl="1"/>
            <a:r>
              <a:rPr lang="en-GB" dirty="0"/>
              <a:t>Water limited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814645-01F3-46A4-B02C-DDF96B30E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830" y="1313808"/>
            <a:ext cx="8025966" cy="497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685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4FDF2-E49B-46CF-A2FC-AD2DAE7BF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34812" cy="1325563"/>
          </a:xfrm>
        </p:spPr>
        <p:txBody>
          <a:bodyPr/>
          <a:lstStyle/>
          <a:p>
            <a:r>
              <a:rPr lang="en-GB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42DAD-DAB7-4911-A4CE-814B7ABC6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9620" cy="4351338"/>
          </a:xfrm>
        </p:spPr>
        <p:txBody>
          <a:bodyPr/>
          <a:lstStyle/>
          <a:p>
            <a:r>
              <a:rPr lang="en-GB" dirty="0"/>
              <a:t>Joy Adiele, PhD thesis, WU 2020.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158689-840E-4AAC-A75C-55FA11850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608" y="222733"/>
            <a:ext cx="6045115" cy="609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157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7C81D-E249-47BD-859F-43A36A03F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921" y="1069800"/>
            <a:ext cx="4555921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Staggered planting</a:t>
            </a:r>
            <a:br>
              <a:rPr lang="en-GB" dirty="0"/>
            </a:br>
            <a:br>
              <a:rPr lang="en-GB" dirty="0"/>
            </a:br>
            <a:r>
              <a:rPr lang="en-GB" dirty="0"/>
              <a:t>2016</a:t>
            </a:r>
            <a:br>
              <a:rPr lang="en-GB" dirty="0"/>
            </a:br>
            <a:r>
              <a:rPr lang="en-GB" dirty="0"/>
              <a:t>Monthly planting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08AC57-00B3-402A-A351-BE50F880A1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365125"/>
            <a:ext cx="5976663" cy="606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748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DD72-0A50-4CA2-98C6-384320164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Edo 2016</a:t>
            </a:r>
            <a:br>
              <a:rPr lang="en-GB" dirty="0"/>
            </a:br>
            <a:r>
              <a:rPr lang="en-GB" dirty="0"/>
              <a:t>3 planting dates</a:t>
            </a:r>
            <a:br>
              <a:rPr lang="en-GB" dirty="0"/>
            </a:br>
            <a:r>
              <a:rPr lang="en-GB" dirty="0"/>
              <a:t>5 fertilization scenarios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D806DD-80BE-4F5E-9B23-D04D7C370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2700" y="365125"/>
            <a:ext cx="5822259" cy="59895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6C737D-D9FE-4A08-B468-DD006D5F2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11416"/>
            <a:ext cx="63627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07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8A747-3186-4FB4-B764-56C5FD5B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Benue, 2016</a:t>
            </a:r>
            <a:br>
              <a:rPr lang="en-GB" dirty="0"/>
            </a:br>
            <a:r>
              <a:rPr lang="en-GB" dirty="0"/>
              <a:t>3 planting dates</a:t>
            </a:r>
            <a:br>
              <a:rPr lang="en-GB" dirty="0"/>
            </a:br>
            <a:r>
              <a:rPr lang="en-GB" dirty="0"/>
              <a:t>5 fertilization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0F949-6EE6-4AEA-91DC-F87F95C20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F0808-BCE1-4FCB-B8F3-0FC946ACC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872" y="-65315"/>
            <a:ext cx="648912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30D7C7-7D32-40D4-A9D2-1A059332B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11416"/>
            <a:ext cx="63627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64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</TotalTime>
  <Words>231</Words>
  <Application>Microsoft Office PowerPoint</Application>
  <PresentationFormat>Widescreen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LINTUL-CassavaNPK</vt:lpstr>
      <vt:lpstr>LINTUL-Cassava</vt:lpstr>
      <vt:lpstr>Tabulated assimilate partitioning</vt:lpstr>
      <vt:lpstr>Nutrient concentrations in Cassava organs</vt:lpstr>
      <vt:lpstr>Nutrition indices</vt:lpstr>
      <vt:lpstr>Nutrition indices explain growth rate reduction</vt:lpstr>
      <vt:lpstr>Growth rate reduction due to N, P and K limitations</vt:lpstr>
      <vt:lpstr>Nutrient equivalents: demand</vt:lpstr>
      <vt:lpstr>Nutrient equivalents: supply and uptake</vt:lpstr>
      <vt:lpstr>Evaluation of nutrient limitations</vt:lpstr>
      <vt:lpstr>Testing</vt:lpstr>
      <vt:lpstr>Staggered planting  2016 Monthly planting  </vt:lpstr>
      <vt:lpstr>Edo 2016 3 planting dates 5 fertilization scenarios</vt:lpstr>
      <vt:lpstr>Benue, 2016 3 planting dates 5 fertilization scenarios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LINTUL-CassavaNPK</dc:title>
  <dc:creator>Schut, Tom</dc:creator>
  <cp:lastModifiedBy>Schut, Tom</cp:lastModifiedBy>
  <cp:revision>16</cp:revision>
  <dcterms:created xsi:type="dcterms:W3CDTF">2020-06-02T06:23:24Z</dcterms:created>
  <dcterms:modified xsi:type="dcterms:W3CDTF">2020-12-18T07:36:49Z</dcterms:modified>
</cp:coreProperties>
</file>